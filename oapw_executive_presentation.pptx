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B7A8"/>
                </a:solidFill>
                <a:latin typeface="Calibri"/>
              </a:rPr>
              <a:t>CONFIDENTIAL  ·  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oapw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0F4FA"/>
                </a:solidFill>
                <a:latin typeface="Calibri"/>
              </a:rPr>
              <a:t>AI-Powered Quality Engineering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5B7A8"/>
                </a:solidFill>
                <a:latin typeface="Calibri"/>
              </a:rPr>
              <a:t>Local-first · Zero cloud costs · Autonomous regression · Knows your codebase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Calibri"/>
              </a:rPr>
              <a:t>May 2026  ·  Engineering 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0817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The Problem with Traditional QA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7685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What oapw Does — and Why It's Different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4553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Platform Capabilities at a Glance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1421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The Knowledge Base Advantage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8289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Autonomous QA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40817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Multi-Faceted Verification Suite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240280"/>
            <a:ext cx="502920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27685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Developer &amp; CI/CD Experience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14553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ROI &amp; Cost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977640"/>
            <a:ext cx="502920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1421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Delivery Track 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846320"/>
            <a:ext cx="502920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846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8289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 with Traditional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2011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Cloud AI costs spiral with every CI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A"/>
                </a:solidFill>
                <a:latin typeface="Calibri"/>
              </a:rPr>
              <a:t>GPT-4 / Claude API charges accumulate fast — $0.01–0.06 per LLM call, thousands of calls per day in active teams.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2011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447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Sensitive data leaves the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A"/>
                </a:solidFill>
                <a:latin typeface="Calibri"/>
              </a:rPr>
              <a:t>Source code, Jira tickets, acceptance criteria, and test data sent to cloud LLMs violate data residency and IP policies.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394960" cy="2011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307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AI generates generic, brittle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A"/>
                </a:solidFill>
                <a:latin typeface="Calibri"/>
              </a:rPr>
              <a:t>Without context about your app, AI writes 'fill the email field' instead of tests grounded in your actual acceptance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394960" cy="2011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7307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Locators break overnight — manually 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A"/>
                </a:solidFill>
                <a:latin typeface="Calibri"/>
              </a:rPr>
              <a:t>Every UI refactor silently breaks 10–40% of selectors. Engineers spend hours updating XPaths instead of building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oapw Does — and Why It's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FFFFF"/>
                </a:solidFill>
                <a:latin typeface="Calibri"/>
              </a:rPr>
              <a:t>"Tell it what to test. It knows your app. It finds the bugs."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164592" cy="155448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B7A8"/>
                </a:solidFill>
                <a:latin typeface="Calibri"/>
              </a:rPr>
              <a:t>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A"/>
                </a:solidFill>
                <a:latin typeface="Calibri"/>
              </a:rPr>
              <a:t>All AI inference runs on Ollama — your machine, your network. Zero data egress. Zero per-token billing.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23160"/>
            <a:ext cx="164592" cy="155448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B7A8"/>
                </a:solidFill>
                <a:latin typeface="Calibri"/>
              </a:rPr>
              <a:t>Context-Aware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971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A"/>
                </a:solidFill>
                <a:latin typeface="Calibri"/>
              </a:rPr>
              <a:t>Ingests Jira, Confluence, and your C#/TypeScript source so generated tests match real acceptance criteria.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164592" cy="155448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B7A8"/>
                </a:solidFill>
                <a:latin typeface="Calibri"/>
              </a:rPr>
              <a:t>Self-Healing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A"/>
                </a:solidFill>
                <a:latin typeface="Calibri"/>
              </a:rPr>
              <a:t>Locators auto-repair using fingerprinting + LLM fallback. UI refactors no longer break the test suite.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343400"/>
            <a:ext cx="164592" cy="155448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B7A8"/>
                </a:solidFill>
                <a:latin typeface="Calibri"/>
              </a:rPr>
              <a:t>Autonomous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892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A"/>
                </a:solidFill>
                <a:latin typeface="Calibri"/>
              </a:rPr>
              <a:t>oapw qa 'regress the login flow' — the agent selects tests, runs them, judges failures, and drafts Jira bugs.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Platform Capabilities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84048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80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Core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Multi-layer cache · BrowserManager · 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384048" cy="384048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280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Browser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AiPage · NL planner · Step executor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04288"/>
            <a:ext cx="384048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304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304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Self-Healing Locators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670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Fingerprints · 3 fallback strategies · SQLite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304288"/>
            <a:ext cx="384048" cy="384048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304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304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Knowledge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670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ChromaDB · RAG retrieval · Jira boost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28416"/>
            <a:ext cx="384048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3284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328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Hybrid API +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6941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Shared cookie jar · ApiClient · PII masker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328416"/>
            <a:ext cx="384048" cy="384048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33284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3328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Test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36941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from-jira · from-story · smoke crawler · edge mutations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52544"/>
            <a:ext cx="384048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352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3525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Agent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7183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AgentRunner · LoopGuard · Hook system · Replan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352544"/>
            <a:ext cx="384048" cy="384048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4352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43525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QA Agent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47183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GoalParser · TestSelector · JudgmentEngine · Investigator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76672"/>
            <a:ext cx="384048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53766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5376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Verification Suite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42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Accessibility (axe) · Performance (Web Vitals) · Visual diff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376672"/>
            <a:ext cx="384048" cy="384048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53766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9128" y="5376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Productionization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9128" y="5742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pytest plugin · oapw init · GitHub Actions ·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Knowledge Base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120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B7A8"/>
                </a:solidFill>
                <a:latin typeface="Calibri"/>
              </a:rPr>
              <a:t>What Gets Indexed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📋  Jira tickets — summaries, AC, status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📄  Confluence — design docs, test plans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⌨️   C# source — classes, methods, XML docs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⚛️   TypeScript/React — components, hooks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🔀  Git history — incremental SHA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5B7A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2743200" cy="5120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ChromaDB
Vector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9260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A"/>
                </a:solidFill>
                <a:latin typeface="Calibri"/>
              </a:rPr>
              <a:t>cosine similarity
nomic-embed-text
L2 embedding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160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5B7A8"/>
                </a:solidFill>
                <a:latin typeface="Calibri"/>
              </a:rPr>
              <a:t>2,500+
docs indexed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5B7A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657600" cy="5120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B7A8"/>
                </a:solidFill>
                <a:latin typeface="Calibri"/>
              </a:rPr>
              <a:t>AI Gets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Tests match real AC, not guesses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Field names from source code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Error messages from design docs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Azure AD flow from Confluence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Jira-linked docs boosted ×1.2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Autonomous QA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6858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ourier New"/>
              </a:rPr>
              <a:t>$ oapw qa  "regression of the login flow on QA"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171907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
Goal
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A"/>
                </a:solidFill>
                <a:latin typeface="Calibri"/>
              </a:rPr>
              <a:t>NL → structured intent
Scope · Features
Environment · Jira refs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4688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2148840"/>
            <a:ext cx="171907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214884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
Test
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200400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A"/>
                </a:solidFill>
                <a:latin typeface="Calibri"/>
              </a:rPr>
              <a:t>Memory + KB sources
Scope tier filter
Relevance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4688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2148840"/>
            <a:ext cx="1719072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214884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
Smart
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200400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A"/>
                </a:solidFill>
                <a:latin typeface="Calibri"/>
              </a:rPr>
              <a:t>pytest JSON report
or AgentRunner
parallel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24688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2148840"/>
            <a:ext cx="1719072" cy="100584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214884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
Judgment
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200400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A"/>
                </a:solidFill>
                <a:latin typeface="Calibri"/>
              </a:rPr>
              <a:t>real_bug · flaky
env_issue · unclear
confidence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4688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80" y="2148840"/>
            <a:ext cx="1719072" cy="100584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26680" y="214884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
Investigator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3200400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A"/>
                </a:solidFill>
                <a:latin typeface="Calibri"/>
              </a:rPr>
              <a:t>Jira history lookup
Git log correlation
Bug report 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4688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2148840"/>
            <a:ext cx="171907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214884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
Console
Reporter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200400"/>
            <a:ext cx="1719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A"/>
                </a:solidFill>
                <a:latin typeface="Calibri"/>
              </a:rPr>
              <a:t>Rich table summary
Pass rate · Real bugs
Jira draft 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1124712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✓  Pass rate reported   ✓  Real bugs vs flaky vs env issues — classified automatically   ✓  Jira bug draft generated for real failures — one click to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B0"/>
                </a:solidFill>
                <a:latin typeface="Calibri"/>
              </a:rPr>
              <a:t>Human-in-loop mode available: --interactive pauses on failures for CONTINUE / RETRY / ABORT / OVERRIDE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Multi-Faceted Verification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A"/>
                </a:solidFill>
                <a:latin typeface="Calibri"/>
              </a:rPr>
              <a:t>Three verification dimensions — each a one-liner in pytest tests: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11880" cy="685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♿ 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0253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  <a:latin typeface="Calibri"/>
              </a:rPr>
              <a:t>WCAG 2.0 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3611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>
                <a:solidFill>
                  <a:srgbClr val="1A56DB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Injects axe-core via Playwright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A56DB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Groups violations: critical / serious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A56DB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assert_no_critical()  assert_no_serious()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A56DB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Zero external service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06240"/>
            <a:ext cx="3611880" cy="960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report = await oapw_accessibility.check(page)
report.assert_no_critical()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600200"/>
            <a:ext cx="3611880" cy="68580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160020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⚡ 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00253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  <a:latin typeface="Calibri"/>
              </a:rPr>
              <a:t>Web Vitals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377440"/>
            <a:ext cx="3611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>
                <a:solidFill>
                  <a:srgbClr val="05B7A8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TTFB · FCP · LCP from browser API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05B7A8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Resource count + bytes breakdown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05B7A8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assert_ttfb_under(ms)  assert_fcp_under(ms)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05B7A8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No external beacon, no cloud account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4206240"/>
            <a:ext cx="3611880" cy="960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70832" y="425196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metrics = await oapw_performance.capture(page)
metrics.assert_fcp_under(2000)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1600200"/>
            <a:ext cx="361188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160020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👁️  Visual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00253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  <a:latin typeface="Calibri"/>
              </a:rPr>
              <a:t>Pixel 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377440"/>
            <a:ext cx="3611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Auto-captures baseline on first run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Pillow pixel-diff with change highlight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Optional LLM description of changes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assert_within_threshold()  (default 2%)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3024" y="4206240"/>
            <a:ext cx="3611880" cy="960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425196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diff = await oapw_visual.compare(page, 'login')
diff.assert_within_threshold()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Developer &amp; CI/CD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B7A8"/>
                </a:solidFill>
                <a:latin typeface="Calibri"/>
              </a:rPr>
              <a:t>10 pytest fixtures — zero 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8600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oapw_page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647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AiPage with .ai() / .ai_assert()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28600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oapw_hybrid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59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Browser + API, shared cookie jar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228600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oapw_factory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535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Realistic test data — 5 built-in types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5204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oapw_accessibility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5478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WCAG 2.0 AA axe-core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228600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oapw_performance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1422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TTFB · FCP · LCP measurement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228600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oapw_visual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7365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Pixel-diff screenshot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57800"/>
            <a:ext cx="228600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53035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oapw_qa_agent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53309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Full autonomous QA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B7A8"/>
                </a:solidFill>
                <a:latin typeface="Calibri"/>
              </a:rPr>
              <a:t>CLI &amp; CI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691640"/>
            <a:ext cx="539496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755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oapw init              scaffold new project in seconds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58568"/>
            <a:ext cx="539496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3225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oapw doctor            verify every dependency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25496"/>
            <a:ext cx="539496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28895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oapw generate from-jira AUTH-42    test from ticket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92424"/>
            <a:ext cx="539496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4564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oapw qa 'smoke test checkout'      autonomous 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959352"/>
            <a:ext cx="5394960" cy="4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4023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oapw run goal '...' --interactive  human-in-loop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572000"/>
            <a:ext cx="5394960" cy="1691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617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B7A8"/>
                </a:solidFill>
                <a:latin typeface="Calibri"/>
              </a:rPr>
              <a:t>GitHub Actions — bundled template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2920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>
                <a:solidFill>
                  <a:srgbClr val="1A56DB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unit-tests job — every push, pull model, run 533 tests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A56DB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integration-tests job — gated on OAPW_RUN_INTEGRATION=true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1A56DB"/>
                </a:solidFill>
                <a:latin typeface="Calibri"/>
              </a:rPr>
              <a:t>▸  </a:t>
            </a:r>
            <a:r>
              <a:rPr sz="1200">
                <a:solidFill>
                  <a:srgbClr val="F0F4FA"/>
                </a:solidFill>
                <a:latin typeface="Calibri"/>
              </a:rPr>
              <a:t>Allure report upload, 14-day retention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ROI &amp; Cost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97480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0B981"/>
                </a:solidFill>
                <a:latin typeface="Calibri"/>
              </a:rP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A"/>
                </a:solidFill>
                <a:latin typeface="Calibri"/>
              </a:rPr>
              <a:t>per LLM call in CI
(vs $0.01–0.06 cloud)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697480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325880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A"/>
                </a:solidFill>
                <a:latin typeface="Calibri"/>
              </a:rPr>
              <a:t>data stays local
Zero egress / GDPR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2697480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56DB"/>
                </a:solidFill>
                <a:latin typeface="Calibri"/>
              </a:rPr>
              <a:t>~2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23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A"/>
                </a:solidFill>
                <a:latin typeface="Calibri"/>
              </a:rPr>
              <a:t>time saved per
healed locator (manual fix)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188720"/>
            <a:ext cx="2697480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325880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5B7A8"/>
                </a:solidFill>
                <a:latin typeface="Calibri"/>
              </a:rPr>
              <a:t>10× faster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23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A"/>
                </a:solidFill>
                <a:latin typeface="Calibri"/>
              </a:rPr>
              <a:t>KB-aware test gen
vs writing from scratch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Cloud LLM API  vs  oapw (local)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920240" cy="4023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069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68880" y="4023360"/>
            <a:ext cx="4572000" cy="4023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42032" y="4069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Cloud LLM (GPT-4 / Claude)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4023360"/>
            <a:ext cx="4389120" cy="4023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05472" y="40690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oapw (Ollama local)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43984"/>
            <a:ext cx="192024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489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B7A8"/>
                </a:solidFill>
                <a:latin typeface="Calibri"/>
              </a:rPr>
              <a:t>Inference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443984"/>
            <a:ext cx="457200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42032" y="448970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$0.01–0.06 / call · $500–5k/mo at 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443984"/>
            <a:ext cx="438912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05472" y="44897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$0 after hardware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64608"/>
            <a:ext cx="1920240" cy="40233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910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B7A8"/>
                </a:solidFill>
                <a:latin typeface="Calibri"/>
              </a:rPr>
              <a:t>Data privacy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4864608"/>
            <a:ext cx="4572000" cy="40233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42032" y="491032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Source code &amp; tickets sent externally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864608"/>
            <a:ext cx="4389120" cy="40233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05472" y="49103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100% on-premise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85232"/>
            <a:ext cx="192024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B7A8"/>
                </a:solidFill>
                <a:latin typeface="Calibri"/>
              </a:rPr>
              <a:t>Latency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5285232"/>
            <a:ext cx="457200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42032" y="53309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200–2000 ms per call (network + queue)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5285232"/>
            <a:ext cx="438912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05472" y="53309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50–500 ms local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705856"/>
            <a:ext cx="1920240" cy="40233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57515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B7A8"/>
                </a:solidFill>
                <a:latin typeface="Calibri"/>
              </a:rPr>
              <a:t>Offline capability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5705856"/>
            <a:ext cx="4572000" cy="40233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42032" y="575157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Requires internet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5705856"/>
            <a:ext cx="4389120" cy="40233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05472" y="575157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Fully offline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126480"/>
            <a:ext cx="192024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0352" y="61722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B7A8"/>
                </a:solidFill>
                <a:latin typeface="Calibri"/>
              </a:rPr>
              <a:t>Vendor lock-in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6126480"/>
            <a:ext cx="457200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42032" y="61722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Yes — API keys, model changes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6126480"/>
            <a:ext cx="4389120" cy="40233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05472" y="61722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A"/>
                </a:solidFill>
                <a:latin typeface="Calibri"/>
              </a:rPr>
              <a:t>None — swap models freely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Delivery Track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10312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A"/>
                </a:solidFill>
                <a:latin typeface="Calibri"/>
              </a:rPr>
              <a:t>Phases
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188720"/>
            <a:ext cx="210312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80" y="12801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56DB"/>
                </a:solidFill>
                <a:latin typeface="Calibri"/>
              </a:rPr>
              <a:t>533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057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A"/>
                </a:solidFill>
                <a:latin typeface="Calibri"/>
              </a:rPr>
              <a:t>Tests
Passing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88720"/>
            <a:ext cx="210312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12801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5B7A8"/>
                </a:solidFill>
                <a:latin typeface="Calibri"/>
              </a:rPr>
              <a:t>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057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A"/>
                </a:solidFill>
                <a:latin typeface="Calibri"/>
              </a:rPr>
              <a:t>Source
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188720"/>
            <a:ext cx="210312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12801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057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A"/>
                </a:solidFill>
                <a:latin typeface="Calibri"/>
              </a:rPr>
              <a:t>Regressions
Introduced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188720"/>
            <a:ext cx="210312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12801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56DB"/>
                </a:solidFill>
                <a:latin typeface="Calibri"/>
              </a:rPr>
              <a:t>&lt; 12s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057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A"/>
                </a:solidFill>
                <a:latin typeface="Calibri"/>
              </a:rPr>
              <a:t>Full Suite
Run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B7A8"/>
                </a:solidFill>
                <a:latin typeface="Calibri"/>
              </a:rPr>
              <a:t>Phase-by-Phase Delivery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Core Infra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27048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27048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AI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88336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88336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336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Self-Heal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8184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9624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9624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9624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KB + Jira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10912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10912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Hybrid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Generator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2048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33488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33488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3488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6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94776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94776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94776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QA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64624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56064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56064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6064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Verify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25912" y="3520440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B7A8"/>
                </a:solidFill>
                <a:latin typeface="Calibri"/>
              </a:rPr>
              <a:t>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17352" y="3383280"/>
            <a:ext cx="106984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817352" y="3401568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17352" y="3913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Calibri"/>
              </a:rPr>
              <a:t>Prod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" y="4434840"/>
            <a:ext cx="164592" cy="59436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44714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All phases tested before commit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8188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Every phase includes a unit test suite. Phase N cannot ship if Phase N-1 tests regress.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5193792"/>
            <a:ext cx="164592" cy="59436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5230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Atomic commits with docs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Each phase: implementation + CHANGELOG + README + architecture + CLI reference updated atomically.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4592" y="5952744"/>
            <a:ext cx="164592" cy="59436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5989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Deterministic test isolation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336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Tests use monkeypatched env vars, in-memory SQLite, and ephemeral ChromaDB — no shared state.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Roadmap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1188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Calibri"/>
              </a:rPr>
              <a:t>Now — Ready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3611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All 10 phases shipped and tested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pytest plugin: drop-in fixtures for any project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oapw init: new project in &lt; 2 minutes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GitHub Actions CI template included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Full docs: setup, CLI, architecture, KB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188720"/>
            <a:ext cx="361188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79392" y="1225296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Q3 2026 — Team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828800"/>
            <a:ext cx="3611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Pilot: 2–3 squads adopt oapw_page + oapw_factory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KB sync job scheduled nightly (Jira + Confluence)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Slack bot: oapw qa results posted to #qa-alerts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Allure dashboard for historical pass-rate trends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56DB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Training sessions for QA engineers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1188720"/>
            <a:ext cx="3611880" cy="54864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225296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Q4 2026 — Scale &amp;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828800"/>
            <a:ext cx="3611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05B7A8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MkDocs site for internal docs portal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05B7A8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Parallel code repo sync (unblocked on RAM constraint)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05B7A8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Multi-repo KB sync via repos.yml config file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05B7A8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Proactive bug detection: nightly regression without triggers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05B7A8"/>
                </a:solidFill>
                <a:latin typeface="Calibri"/>
              </a:rPr>
              <a:t>▸  </a:t>
            </a:r>
            <a:r>
              <a:rPr sz="1300">
                <a:solidFill>
                  <a:srgbClr val="F0F4FA"/>
                </a:solidFill>
                <a:latin typeface="Calibri"/>
              </a:rPr>
              <a:t>Integration with internal Jira to auto-file detected bugs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0"/>
                </a:solidFill>
                <a:latin typeface="Calibri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We're Asking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394960" cy="19202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Approval to pilot with 2–3 squads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A"/>
                </a:solidFill>
                <a:latin typeface="Calibri"/>
              </a:rPr>
              <a:t>Select initial teams. 2-week integration sprint. We provide onboarding, setup guide, and hands-on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394960" cy="19202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02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Hardware: 1 × 16 GB shared CI 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A"/>
                </a:solidFill>
                <a:latin typeface="Calibri"/>
              </a:rPr>
              <a:t>Ollama needs 16 GB RAM for qwen2.5:7b quality. Can share with existing CI infra — no dedicated server required.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5394960" cy="19202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B7A8"/>
                </a:solidFill>
                <a:latin typeface="Calibri"/>
              </a:rPr>
              <a:t>Atlassian API token (read-only)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A"/>
                </a:solidFill>
                <a:latin typeface="Calibri"/>
              </a:rPr>
              <a:t>One team-level token for Jira + Confluence read access. All data stays on-premise — token used only for KB sync.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429000"/>
            <a:ext cx="5394960" cy="19202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429000"/>
            <a:ext cx="502920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B7A8"/>
                </a:solidFill>
                <a:latin typeface="Calibri"/>
              </a:rPr>
              <a:t>Nightly CI slot for KB sync 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A"/>
                </a:solidFill>
                <a:latin typeface="Calibri"/>
              </a:rPr>
              <a:t>5-minute nightly sync keeps the Knowledge Base current with sprint changes, new tickets, and updated Confluence pages.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oapw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5B7A8"/>
                </a:solidFill>
                <a:latin typeface="Calibri"/>
              </a:rPr>
              <a:t>Local AI. Zero Cost. Knows Your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4FA"/>
                </a:solidFill>
                <a:latin typeface="Calibri"/>
              </a:rPr>
              <a:t>533 tests passing  ·  10 phases delivered  ·  Ready for pilot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10515600" cy="8229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B0"/>
                </a:solidFill>
                <a:latin typeface="Calibri"/>
              </a:rPr>
              <a:t>Repo: github.com/your-org/ollama-playwright-automation   ·   Docs: docs/setup.md   ·   Demo: oapw doctor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1679</Words>
  <Application>Microsoft Macintosh PowerPoint</Application>
  <PresentationFormat>Custom</PresentationFormat>
  <Paragraphs>291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Achal Joshi</cp:lastModifiedBy>
  <cp:revision>1</cp:revision>
  <dcterms:created xsi:type="dcterms:W3CDTF">2013-01-27T09:14:16Z</dcterms:created>
  <dcterms:modified xsi:type="dcterms:W3CDTF">2026-05-24T14:54:27Z</dcterms:modified>
  <cp:category/>
</cp:coreProperties>
</file>